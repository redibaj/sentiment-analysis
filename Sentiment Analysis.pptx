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BF155-CB7E-4BE0-AB4A-765A27716715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6CE04-A820-4EC4-9879-6D28F8879A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659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96CE04-A820-4EC4-9879-6D28F8879A2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1168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A7F7-1176-2E9F-1D40-676A52E22B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46C947-254E-0E64-214C-8E4AB7D87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D9030-3BF6-146C-0F46-3B043FA70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9C12-5E03-4936-AC4B-F61FCC906232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EBFCF-248A-DC6C-CEFF-2F1D7BA55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4CA78-E28B-70E8-9333-44F9568D9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7001-30DA-4378-92ED-4835DD8357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4204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37B9-EFBE-CC62-DA35-5516D5E9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7ED08-4F41-3783-31AC-A4D170CAE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60C10-6761-20CF-D010-62D8B5C85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9C12-5E03-4936-AC4B-F61FCC906232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B8428-CEEF-36F2-7767-0BC6B537A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4EC7E-38C1-150E-EEC4-5C44FADA7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7001-30DA-4378-92ED-4835DD8357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8021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80A43-747B-283B-E882-DBADCFC81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3FD3C-916B-155C-6D2D-F4EC01A8F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1A0B4-85D7-1E45-D4A5-9AE58CDE1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9C12-5E03-4936-AC4B-F61FCC906232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51B8-456E-F939-048D-20DB7D94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8754C-95E2-BDFE-D936-0E388B640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7001-30DA-4378-92ED-4835DD8357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3430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ECAF7-85B8-0F77-D1BF-C60C5745B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115FE-25F9-D4BA-52FD-C7FBAFE9F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179F09-2B1E-9DCA-5AC0-7803A58A5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E57920-9F32-0D01-6F25-56473A7E5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9C12-5E03-4936-AC4B-F61FCC906232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EE50A-4988-C565-1425-8BCA05B78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52F6F-D1BE-00E4-20CD-F420C54FC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7001-30DA-4378-92ED-4835DD8357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7762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CE6D9-F7BC-E6BF-3933-D925C5370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A95A3-1015-7495-FC6F-60608067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EC6996-C711-93D2-E933-7D0E83D44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19C288-0992-9943-7345-7CF6081121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DE4AB4-E9DC-D87F-B232-15FCF3EFF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C84487-0C1C-1F30-FC2B-E243C4F95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9C12-5E03-4936-AC4B-F61FCC906232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F2AD77-7910-CE85-48D2-B62FED8F8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2E08EA-3D8A-B636-A42B-3577B47B0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7001-30DA-4378-92ED-4835DD8357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2182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8C9E-BE3E-05C8-E605-4F1371395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A9C7C0-4FDE-C89D-57EE-7310D34C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9C12-5E03-4936-AC4B-F61FCC906232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4A98FD-29DF-C3A9-29F5-95420A00B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D1CAD1-8281-1C92-2A74-90EBB015C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7001-30DA-4378-92ED-4835DD8357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6854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B627A1-0959-B471-6A5E-94496E0D0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9C12-5E03-4936-AC4B-F61FCC906232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AAA59B-3D14-7BD3-0CD8-19F9E6A41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16B63-4682-BB7D-A7FD-91C986ABC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7001-30DA-4378-92ED-4835DD8357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6667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4E8E-DF4A-B681-FC5D-3E3A6F2C2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F2485-65AE-62C6-C000-A726AB22B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64168C-6C71-3DA2-4D8C-5C12C0027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C34E03-D1E2-2DE8-9BDD-912BB4EBC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9C12-5E03-4936-AC4B-F61FCC906232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9F504-C7D3-330A-F5DE-C8141F7E6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A1FC9-7D8E-6546-E4EF-FC945EB5C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7001-30DA-4378-92ED-4835DD8357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4480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9293B-46D9-6876-A4E5-07ACA3A83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576134-4AF7-C01D-D77C-73B1406BA1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10EBE1-EAE9-26E0-766F-377DE91E7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8D30D-5205-52B8-E083-7BE8BFF8A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9C12-5E03-4936-AC4B-F61FCC906232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01BFD-98DB-064F-D147-EBF29333B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F63E4-D19F-C905-43B2-09FB0BC4F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7001-30DA-4378-92ED-4835DD8357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5551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B341C-6675-60D2-FC82-1F18241C5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9B435-A95F-A64A-E117-1F1702FED1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E8BDE-FF58-672B-5C19-553B16FC8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9C12-5E03-4936-AC4B-F61FCC906232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2B4C0-AE22-BE18-0FA4-54D966AE9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B0C3F-0EBC-731A-BA44-DDAEC84D0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7001-30DA-4378-92ED-4835DD8357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0120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70C7E1-4819-9B01-CC02-D62115AD8E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52F593-C411-1BD4-23FF-5E721FD5F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C8583-C3DF-B723-3DEF-D657FE859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9C12-5E03-4936-AC4B-F61FCC906232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AA3D2-1BEF-9219-855B-FBA4CABC1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26442-B223-1482-E897-F836E564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7001-30DA-4378-92ED-4835DD8357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0387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2C77F4-4866-09C7-80CC-DE3E97667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5B688-47CF-95AC-8F28-21B92376C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57429-67A8-60FE-891B-F420BFA7E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E79C12-5E03-4936-AC4B-F61FCC906232}" type="datetimeFigureOut">
              <a:rPr lang="de-DE" smtClean="0"/>
              <a:t>21.10.2024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04A0A-FE00-E707-50EF-CF28BE5C5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C5411-D825-6FE7-48F4-B4ABD7C54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757001-30DA-4378-92ED-4835DD8357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074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de/blogs/big-data/large-language-models-for-sentiment-analysis-with-amazon-redshift-ml-preview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SB7ciN14nng&amp;t=1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052A4-113C-7C2C-FFF5-0BFEA11C2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695"/>
            <a:ext cx="9144000" cy="574462"/>
          </a:xfrm>
        </p:spPr>
        <p:txBody>
          <a:bodyPr>
            <a:normAutofit/>
          </a:bodyPr>
          <a:lstStyle/>
          <a:p>
            <a:r>
              <a:rPr lang="de-DE" sz="3200" b="1" dirty="0"/>
              <a:t>Sentiment Analysis mit LLMs für Amazon Produkte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A2C2A-8124-875B-E921-A4895BFBD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649" y="1000240"/>
            <a:ext cx="4471448" cy="2428760"/>
          </a:xfrm>
        </p:spPr>
        <p:txBody>
          <a:bodyPr>
            <a:normAutofit fontScale="70000" lnSpcReduction="20000"/>
          </a:bodyPr>
          <a:lstStyle/>
          <a:p>
            <a:r>
              <a:rPr lang="de-DE" dirty="0"/>
              <a:t>Definition: Bei der Stimmungsanalyse (oder Meinungsanalyse) wird der emotionale Ton eines Textes ermittelt. Sie wird häufig zum Verständnis von Kundenrezensionen verwendet.</a:t>
            </a:r>
          </a:p>
          <a:p>
            <a:endParaRPr lang="de-DE" dirty="0"/>
          </a:p>
          <a:p>
            <a:r>
              <a:rPr lang="de-DE" dirty="0"/>
              <a:t>Bedeutung im E-Commerce: Für Plattformen wie Amazon hilft die Stimmungsanalyse den Unternehmen, die Kundenzufriedenheit zu verstehen und die Nutzererfahrung zu verbessern.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21B02E-104F-C77C-F194-E2A65D5EF2B7}"/>
              </a:ext>
            </a:extLst>
          </p:cNvPr>
          <p:cNvSpPr txBox="1"/>
          <p:nvPr/>
        </p:nvSpPr>
        <p:spPr>
          <a:xfrm>
            <a:off x="345649" y="3741083"/>
            <a:ext cx="44714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/>
              <a:t>LLMs for this project:</a:t>
            </a:r>
          </a:p>
          <a:p>
            <a:pPr marL="285750" indent="-285750" algn="ctr">
              <a:buFontTx/>
              <a:buChar char="-"/>
            </a:pPr>
            <a:r>
              <a:rPr lang="de-DE" dirty="0"/>
              <a:t>BERT</a:t>
            </a:r>
          </a:p>
          <a:p>
            <a:pPr marL="285750" indent="-285750" algn="ctr">
              <a:buFontTx/>
              <a:buChar char="-"/>
            </a:pPr>
            <a:r>
              <a:rPr lang="de-DE" dirty="0"/>
              <a:t>PyTorch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9EF8B44-6206-14F9-407F-A118885A5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166" y="1000240"/>
            <a:ext cx="6322185" cy="3862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DEF4C7-2060-0C14-5F53-ED90E0272679}"/>
              </a:ext>
            </a:extLst>
          </p:cNvPr>
          <p:cNvSpPr txBox="1"/>
          <p:nvPr/>
        </p:nvSpPr>
        <p:spPr>
          <a:xfrm>
            <a:off x="345649" y="5637476"/>
            <a:ext cx="1150070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Useful Links:</a:t>
            </a:r>
          </a:p>
          <a:p>
            <a:r>
              <a:rPr lang="de-DE" sz="1600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https://aws.amazon.com/de/blogs/big-data/large-language-models-for-sentiment-analysis-with-amazon-redshift-ml-preview/</a:t>
            </a:r>
            <a:r>
              <a:rPr lang="de-DE" sz="1600" dirty="0"/>
              <a:t> </a:t>
            </a:r>
          </a:p>
          <a:p>
            <a:r>
              <a:rPr lang="de-DE" sz="1600" dirty="0">
                <a:hlinkClick r:id="rId4"/>
              </a:rPr>
              <a:t>https://www.youtube.com/watch?v=SB7ciN14nng&amp;t=1s</a:t>
            </a:r>
            <a:r>
              <a:rPr lang="de-DE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1281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5964CBE2-084A-47DF-A704-CF5F6217B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42A3FC-A259-92CA-311C-B077A6FE7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74819"/>
            <a:ext cx="4826795" cy="28583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dirty="0" err="1">
                <a:solidFill>
                  <a:schemeClr val="bg1"/>
                </a:solidFill>
              </a:rPr>
              <a:t>Seniment</a:t>
            </a:r>
            <a:r>
              <a:rPr lang="en-US" sz="7200" dirty="0">
                <a:solidFill>
                  <a:schemeClr val="bg1"/>
                </a:solidFill>
              </a:rPr>
              <a:t> Analysis</a:t>
            </a:r>
          </a:p>
        </p:txBody>
      </p:sp>
      <p:pic>
        <p:nvPicPr>
          <p:cNvPr id="1030" name="Picture 6" descr="Sentiment vs Text Analytics: Key Differences">
            <a:extLst>
              <a:ext uri="{FF2B5EF4-FFF2-40B4-BE49-F238E27FC236}">
                <a16:creationId xmlns:a16="http://schemas.microsoft.com/office/drawing/2014/main" id="{93C8DE1C-F24A-17BA-B17A-1A301ACE0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19" r="-3" b="-3"/>
          <a:stretch/>
        </p:blipFill>
        <p:spPr bwMode="auto">
          <a:xfrm>
            <a:off x="6096000" y="841375"/>
            <a:ext cx="5260975" cy="4707593"/>
          </a:xfrm>
          <a:custGeom>
            <a:avLst/>
            <a:gdLst/>
            <a:ahLst/>
            <a:cxnLst/>
            <a:rect l="l" t="t" r="r" b="b"/>
            <a:pathLst>
              <a:path w="5260975" h="4707593">
                <a:moveTo>
                  <a:pt x="0" y="0"/>
                </a:moveTo>
                <a:lnTo>
                  <a:pt x="5260975" y="0"/>
                </a:lnTo>
                <a:lnTo>
                  <a:pt x="5260975" y="3296937"/>
                </a:lnTo>
                <a:lnTo>
                  <a:pt x="5260975" y="3518571"/>
                </a:lnTo>
                <a:lnTo>
                  <a:pt x="5226503" y="3534000"/>
                </a:lnTo>
                <a:cubicBezTo>
                  <a:pt x="5219783" y="3536785"/>
                  <a:pt x="5212389" y="3538321"/>
                  <a:pt x="5206341" y="3542065"/>
                </a:cubicBezTo>
                <a:cubicBezTo>
                  <a:pt x="5178495" y="3559156"/>
                  <a:pt x="5151515" y="3577591"/>
                  <a:pt x="5123287" y="3594010"/>
                </a:cubicBezTo>
                <a:cubicBezTo>
                  <a:pt x="5094195" y="3611004"/>
                  <a:pt x="5068175" y="3631071"/>
                  <a:pt x="5048107" y="3658244"/>
                </a:cubicBezTo>
                <a:cubicBezTo>
                  <a:pt x="5029480" y="3683496"/>
                  <a:pt x="5011429" y="3709131"/>
                  <a:pt x="4992899" y="3734479"/>
                </a:cubicBezTo>
                <a:cubicBezTo>
                  <a:pt x="4988194" y="3740912"/>
                  <a:pt x="4983873" y="3748498"/>
                  <a:pt x="4977440" y="3752627"/>
                </a:cubicBezTo>
                <a:cubicBezTo>
                  <a:pt x="4964094" y="3761268"/>
                  <a:pt x="4949499" y="3768277"/>
                  <a:pt x="4935193" y="3775382"/>
                </a:cubicBezTo>
                <a:cubicBezTo>
                  <a:pt x="4922903" y="3781431"/>
                  <a:pt x="4909845" y="3785943"/>
                  <a:pt x="4897844" y="3792472"/>
                </a:cubicBezTo>
                <a:cubicBezTo>
                  <a:pt x="4888243" y="3797658"/>
                  <a:pt x="4879697" y="3804859"/>
                  <a:pt x="4870767" y="3811388"/>
                </a:cubicBezTo>
                <a:cubicBezTo>
                  <a:pt x="4862990" y="3817052"/>
                  <a:pt x="4854445" y="3821949"/>
                  <a:pt x="4847916" y="3828767"/>
                </a:cubicBezTo>
                <a:cubicBezTo>
                  <a:pt x="4831977" y="3845281"/>
                  <a:pt x="4815942" y="3861508"/>
                  <a:pt x="4796163" y="3873702"/>
                </a:cubicBezTo>
                <a:cubicBezTo>
                  <a:pt x="4776672" y="3885799"/>
                  <a:pt x="4758237" y="3899338"/>
                  <a:pt x="4738843" y="3911628"/>
                </a:cubicBezTo>
                <a:cubicBezTo>
                  <a:pt x="4719831" y="3923630"/>
                  <a:pt x="4702645" y="3936783"/>
                  <a:pt x="4692755" y="3958099"/>
                </a:cubicBezTo>
                <a:cubicBezTo>
                  <a:pt x="4688339" y="3967508"/>
                  <a:pt x="4682097" y="3977782"/>
                  <a:pt x="4673744" y="3983255"/>
                </a:cubicBezTo>
                <a:cubicBezTo>
                  <a:pt x="4661838" y="3991032"/>
                  <a:pt x="4646764" y="3993817"/>
                  <a:pt x="4633801" y="4000442"/>
                </a:cubicBezTo>
                <a:cubicBezTo>
                  <a:pt x="4618535" y="4008219"/>
                  <a:pt x="4600869" y="4014940"/>
                  <a:pt x="4590499" y="4027326"/>
                </a:cubicBezTo>
                <a:cubicBezTo>
                  <a:pt x="4581281" y="4038368"/>
                  <a:pt x="4571968" y="4047009"/>
                  <a:pt x="4559773" y="4054018"/>
                </a:cubicBezTo>
                <a:cubicBezTo>
                  <a:pt x="4551229" y="4058915"/>
                  <a:pt x="4544892" y="4067844"/>
                  <a:pt x="4536059" y="4071877"/>
                </a:cubicBezTo>
                <a:cubicBezTo>
                  <a:pt x="4524441" y="4077254"/>
                  <a:pt x="4512727" y="4081479"/>
                  <a:pt x="4502549" y="4089832"/>
                </a:cubicBezTo>
                <a:cubicBezTo>
                  <a:pt x="4491987" y="4098473"/>
                  <a:pt x="4479986" y="4105290"/>
                  <a:pt x="4468944" y="4113356"/>
                </a:cubicBezTo>
                <a:cubicBezTo>
                  <a:pt x="4463087" y="4117676"/>
                  <a:pt x="4458286" y="4123341"/>
                  <a:pt x="4452622" y="4127854"/>
                </a:cubicBezTo>
                <a:cubicBezTo>
                  <a:pt x="4442252" y="4136111"/>
                  <a:pt x="4431690" y="4144176"/>
                  <a:pt x="4421032" y="4151953"/>
                </a:cubicBezTo>
                <a:cubicBezTo>
                  <a:pt x="4410375" y="4159731"/>
                  <a:pt x="4400197" y="4168756"/>
                  <a:pt x="4388483" y="4174421"/>
                </a:cubicBezTo>
                <a:cubicBezTo>
                  <a:pt x="4368513" y="4184023"/>
                  <a:pt x="4346717" y="4189784"/>
                  <a:pt x="4327321" y="4200153"/>
                </a:cubicBezTo>
                <a:cubicBezTo>
                  <a:pt x="4307639" y="4210714"/>
                  <a:pt x="4289107" y="4223965"/>
                  <a:pt x="4271633" y="4237983"/>
                </a:cubicBezTo>
                <a:cubicBezTo>
                  <a:pt x="4257807" y="4249025"/>
                  <a:pt x="4244845" y="4259971"/>
                  <a:pt x="4227465" y="4265635"/>
                </a:cubicBezTo>
                <a:cubicBezTo>
                  <a:pt x="4217768" y="4268804"/>
                  <a:pt x="4207591" y="4275717"/>
                  <a:pt x="4201733" y="4283783"/>
                </a:cubicBezTo>
                <a:cubicBezTo>
                  <a:pt x="4189059" y="4301353"/>
                  <a:pt x="4172833" y="4313739"/>
                  <a:pt x="4154494" y="4324301"/>
                </a:cubicBezTo>
                <a:cubicBezTo>
                  <a:pt x="4130010" y="4338511"/>
                  <a:pt x="4105814" y="4353009"/>
                  <a:pt x="4081234" y="4366931"/>
                </a:cubicBezTo>
                <a:cubicBezTo>
                  <a:pt x="4066737" y="4375189"/>
                  <a:pt x="4052335" y="4383926"/>
                  <a:pt x="4036971" y="4389975"/>
                </a:cubicBezTo>
                <a:cubicBezTo>
                  <a:pt x="4005575" y="4402457"/>
                  <a:pt x="3973410" y="4413114"/>
                  <a:pt x="3941725" y="4424733"/>
                </a:cubicBezTo>
                <a:cubicBezTo>
                  <a:pt x="3931355" y="4428477"/>
                  <a:pt x="3921561" y="4433854"/>
                  <a:pt x="3910999" y="4437119"/>
                </a:cubicBezTo>
                <a:cubicBezTo>
                  <a:pt x="3899573" y="4440671"/>
                  <a:pt x="3887285" y="4441727"/>
                  <a:pt x="3875859" y="4445280"/>
                </a:cubicBezTo>
                <a:cubicBezTo>
                  <a:pt x="3856847" y="4451136"/>
                  <a:pt x="3838412" y="4458626"/>
                  <a:pt x="3819401" y="4464579"/>
                </a:cubicBezTo>
                <a:cubicBezTo>
                  <a:pt x="3782723" y="4476005"/>
                  <a:pt x="3745949" y="4486951"/>
                  <a:pt x="3709176" y="4497800"/>
                </a:cubicBezTo>
                <a:cubicBezTo>
                  <a:pt x="3701303" y="4500105"/>
                  <a:pt x="3692757" y="4500393"/>
                  <a:pt x="3684981" y="4502889"/>
                </a:cubicBezTo>
                <a:cubicBezTo>
                  <a:pt x="3664337" y="4509610"/>
                  <a:pt x="3643789" y="4516907"/>
                  <a:pt x="3623338" y="4524300"/>
                </a:cubicBezTo>
                <a:cubicBezTo>
                  <a:pt x="3610953" y="4528813"/>
                  <a:pt x="3598854" y="4534382"/>
                  <a:pt x="3586373" y="4538702"/>
                </a:cubicBezTo>
                <a:cubicBezTo>
                  <a:pt x="3576387" y="4542159"/>
                  <a:pt x="3566113" y="4544847"/>
                  <a:pt x="3555743" y="4546960"/>
                </a:cubicBezTo>
                <a:cubicBezTo>
                  <a:pt x="3546814" y="4548785"/>
                  <a:pt x="3537501" y="4548592"/>
                  <a:pt x="3528667" y="4550801"/>
                </a:cubicBezTo>
                <a:cubicBezTo>
                  <a:pt x="3504759" y="4556753"/>
                  <a:pt x="3481140" y="4563475"/>
                  <a:pt x="3457424" y="4569811"/>
                </a:cubicBezTo>
                <a:cubicBezTo>
                  <a:pt x="3447919" y="4572308"/>
                  <a:pt x="3438221" y="4574133"/>
                  <a:pt x="3429003" y="4577301"/>
                </a:cubicBezTo>
                <a:cubicBezTo>
                  <a:pt x="3404327" y="4585654"/>
                  <a:pt x="3380036" y="4595159"/>
                  <a:pt x="3355264" y="4603033"/>
                </a:cubicBezTo>
                <a:cubicBezTo>
                  <a:pt x="3334717" y="4609562"/>
                  <a:pt x="3313593" y="4614266"/>
                  <a:pt x="3292757" y="4620027"/>
                </a:cubicBezTo>
                <a:cubicBezTo>
                  <a:pt x="3283924" y="4622524"/>
                  <a:pt x="3275475" y="4626077"/>
                  <a:pt x="3266643" y="4628188"/>
                </a:cubicBezTo>
                <a:cubicBezTo>
                  <a:pt x="3246863" y="4632990"/>
                  <a:pt x="3226796" y="4637022"/>
                  <a:pt x="3206921" y="4641823"/>
                </a:cubicBezTo>
                <a:cubicBezTo>
                  <a:pt x="3195590" y="4644607"/>
                  <a:pt x="3184645" y="4649600"/>
                  <a:pt x="3173123" y="4651425"/>
                </a:cubicBezTo>
                <a:cubicBezTo>
                  <a:pt x="3145759" y="4655745"/>
                  <a:pt x="3118203" y="4658817"/>
                  <a:pt x="3090646" y="4662274"/>
                </a:cubicBezTo>
                <a:cubicBezTo>
                  <a:pt x="3062227" y="4665826"/>
                  <a:pt x="3033902" y="4669571"/>
                  <a:pt x="3005480" y="4672739"/>
                </a:cubicBezTo>
                <a:cubicBezTo>
                  <a:pt x="2989926" y="4674372"/>
                  <a:pt x="2974275" y="4674660"/>
                  <a:pt x="2958721" y="4676196"/>
                </a:cubicBezTo>
                <a:cubicBezTo>
                  <a:pt x="2945087" y="4677541"/>
                  <a:pt x="2931549" y="4680037"/>
                  <a:pt x="2917915" y="4681670"/>
                </a:cubicBezTo>
                <a:cubicBezTo>
                  <a:pt x="2906105" y="4683013"/>
                  <a:pt x="2894199" y="4683781"/>
                  <a:pt x="2882389" y="4685126"/>
                </a:cubicBezTo>
                <a:cubicBezTo>
                  <a:pt x="2863475" y="4687334"/>
                  <a:pt x="2844655" y="4689831"/>
                  <a:pt x="2825837" y="4692135"/>
                </a:cubicBezTo>
                <a:cubicBezTo>
                  <a:pt x="2817964" y="4692999"/>
                  <a:pt x="2809706" y="4695399"/>
                  <a:pt x="2802313" y="4693960"/>
                </a:cubicBezTo>
                <a:cubicBezTo>
                  <a:pt x="2783686" y="4690310"/>
                  <a:pt x="2765347" y="4691367"/>
                  <a:pt x="2746816" y="4693863"/>
                </a:cubicBezTo>
                <a:cubicBezTo>
                  <a:pt x="2740479" y="4694728"/>
                  <a:pt x="2733662" y="4694535"/>
                  <a:pt x="2727517" y="4692903"/>
                </a:cubicBezTo>
                <a:cubicBezTo>
                  <a:pt x="2714939" y="4689638"/>
                  <a:pt x="2702745" y="4685029"/>
                  <a:pt x="2690359" y="4680997"/>
                </a:cubicBezTo>
                <a:cubicBezTo>
                  <a:pt x="2689014" y="4680517"/>
                  <a:pt x="2687382" y="4680421"/>
                  <a:pt x="2685943" y="4680133"/>
                </a:cubicBezTo>
                <a:cubicBezTo>
                  <a:pt x="2677781" y="4678500"/>
                  <a:pt x="2669717" y="4676868"/>
                  <a:pt x="2661554" y="4675428"/>
                </a:cubicBezTo>
                <a:cubicBezTo>
                  <a:pt x="2657138" y="4674660"/>
                  <a:pt x="2652625" y="4674564"/>
                  <a:pt x="2648208" y="4673892"/>
                </a:cubicBezTo>
                <a:cubicBezTo>
                  <a:pt x="2631118" y="4671203"/>
                  <a:pt x="2612299" y="4675716"/>
                  <a:pt x="2597512" y="4664099"/>
                </a:cubicBezTo>
                <a:cubicBezTo>
                  <a:pt x="2587911" y="4656609"/>
                  <a:pt x="2578597" y="4658338"/>
                  <a:pt x="2568324" y="4659490"/>
                </a:cubicBezTo>
                <a:cubicBezTo>
                  <a:pt x="2560547" y="4660354"/>
                  <a:pt x="2552577" y="4660065"/>
                  <a:pt x="2544704" y="4660162"/>
                </a:cubicBezTo>
                <a:cubicBezTo>
                  <a:pt x="2530878" y="4660449"/>
                  <a:pt x="2517052" y="4660546"/>
                  <a:pt x="2503225" y="4661026"/>
                </a:cubicBezTo>
                <a:cubicBezTo>
                  <a:pt x="2498808" y="4661218"/>
                  <a:pt x="2494297" y="4663619"/>
                  <a:pt x="2489975" y="4663235"/>
                </a:cubicBezTo>
                <a:cubicBezTo>
                  <a:pt x="2470004" y="4661410"/>
                  <a:pt x="2450033" y="4658529"/>
                  <a:pt x="2430061" y="4656897"/>
                </a:cubicBezTo>
                <a:cubicBezTo>
                  <a:pt x="2418732" y="4655938"/>
                  <a:pt x="2407114" y="4657761"/>
                  <a:pt x="2395880" y="4656417"/>
                </a:cubicBezTo>
                <a:cubicBezTo>
                  <a:pt x="2382919" y="4654881"/>
                  <a:pt x="2370245" y="4650945"/>
                  <a:pt x="2357378" y="4648544"/>
                </a:cubicBezTo>
                <a:cubicBezTo>
                  <a:pt x="2353826" y="4647872"/>
                  <a:pt x="2349889" y="4648736"/>
                  <a:pt x="2346145" y="4648928"/>
                </a:cubicBezTo>
                <a:cubicBezTo>
                  <a:pt x="2341920" y="4649120"/>
                  <a:pt x="2337791" y="4649504"/>
                  <a:pt x="2333567" y="4649600"/>
                </a:cubicBezTo>
                <a:cubicBezTo>
                  <a:pt x="2320700" y="4649793"/>
                  <a:pt x="2307835" y="4649504"/>
                  <a:pt x="2294968" y="4650177"/>
                </a:cubicBezTo>
                <a:cubicBezTo>
                  <a:pt x="2287095" y="4650561"/>
                  <a:pt x="2278839" y="4654497"/>
                  <a:pt x="2271540" y="4653057"/>
                </a:cubicBezTo>
                <a:cubicBezTo>
                  <a:pt x="2256659" y="4650272"/>
                  <a:pt x="2241776" y="4656513"/>
                  <a:pt x="2226895" y="4651329"/>
                </a:cubicBezTo>
                <a:cubicBezTo>
                  <a:pt x="2222285" y="4649793"/>
                  <a:pt x="2215948" y="4653633"/>
                  <a:pt x="2210379" y="4653825"/>
                </a:cubicBezTo>
                <a:cubicBezTo>
                  <a:pt x="2196457" y="4654305"/>
                  <a:pt x="2182535" y="4654209"/>
                  <a:pt x="2168613" y="4654113"/>
                </a:cubicBezTo>
                <a:cubicBezTo>
                  <a:pt x="2156131" y="4654017"/>
                  <a:pt x="2143168" y="4655361"/>
                  <a:pt x="2131167" y="4652673"/>
                </a:cubicBezTo>
                <a:cubicBezTo>
                  <a:pt x="2118588" y="4649793"/>
                  <a:pt x="2107259" y="4650177"/>
                  <a:pt x="2095065" y="4653441"/>
                </a:cubicBezTo>
                <a:cubicBezTo>
                  <a:pt x="2086711" y="4655649"/>
                  <a:pt x="2077878" y="4655938"/>
                  <a:pt x="2069237" y="4656609"/>
                </a:cubicBezTo>
                <a:cubicBezTo>
                  <a:pt x="2059924" y="4657377"/>
                  <a:pt x="2049650" y="4655361"/>
                  <a:pt x="2041201" y="4658529"/>
                </a:cubicBezTo>
                <a:cubicBezTo>
                  <a:pt x="2016044" y="4667939"/>
                  <a:pt x="1990216" y="4669955"/>
                  <a:pt x="1963909" y="4669955"/>
                </a:cubicBezTo>
                <a:cubicBezTo>
                  <a:pt x="1959107" y="4669955"/>
                  <a:pt x="1954210" y="4668612"/>
                  <a:pt x="1949603" y="4667171"/>
                </a:cubicBezTo>
                <a:cubicBezTo>
                  <a:pt x="1922717" y="4658529"/>
                  <a:pt x="1895737" y="4659297"/>
                  <a:pt x="1868373" y="4664578"/>
                </a:cubicBezTo>
                <a:cubicBezTo>
                  <a:pt x="1862708" y="4665731"/>
                  <a:pt x="1856372" y="4665923"/>
                  <a:pt x="1850707" y="4664771"/>
                </a:cubicBezTo>
                <a:cubicBezTo>
                  <a:pt x="1834768" y="4661410"/>
                  <a:pt x="1819309" y="4655841"/>
                  <a:pt x="1803275" y="4653441"/>
                </a:cubicBezTo>
                <a:cubicBezTo>
                  <a:pt x="1776775" y="4649504"/>
                  <a:pt x="1753828" y="4662754"/>
                  <a:pt x="1730112" y="4671396"/>
                </a:cubicBezTo>
                <a:cubicBezTo>
                  <a:pt x="1707548" y="4679557"/>
                  <a:pt x="1688345" y="4697992"/>
                  <a:pt x="1661652" y="4693863"/>
                </a:cubicBezTo>
                <a:cubicBezTo>
                  <a:pt x="1658965" y="4693479"/>
                  <a:pt x="1655988" y="4696071"/>
                  <a:pt x="1653011" y="4696744"/>
                </a:cubicBezTo>
                <a:cubicBezTo>
                  <a:pt x="1644850" y="4698568"/>
                  <a:pt x="1636689" y="4700776"/>
                  <a:pt x="1628431" y="4701641"/>
                </a:cubicBezTo>
                <a:cubicBezTo>
                  <a:pt x="1618350" y="4702793"/>
                  <a:pt x="1608076" y="4702409"/>
                  <a:pt x="1597995" y="4703369"/>
                </a:cubicBezTo>
                <a:cubicBezTo>
                  <a:pt x="1585032" y="4704521"/>
                  <a:pt x="1572263" y="4707593"/>
                  <a:pt x="1559396" y="4707593"/>
                </a:cubicBezTo>
                <a:cubicBezTo>
                  <a:pt x="1549026" y="4707593"/>
                  <a:pt x="1538753" y="4704041"/>
                  <a:pt x="1528480" y="4702312"/>
                </a:cubicBezTo>
                <a:cubicBezTo>
                  <a:pt x="1513981" y="4699912"/>
                  <a:pt x="1498042" y="4700584"/>
                  <a:pt x="1485272" y="4694439"/>
                </a:cubicBezTo>
                <a:cubicBezTo>
                  <a:pt x="1471639" y="4687910"/>
                  <a:pt x="1458676" y="4684934"/>
                  <a:pt x="1444562" y="4686950"/>
                </a:cubicBezTo>
                <a:cubicBezTo>
                  <a:pt x="1439857" y="4687622"/>
                  <a:pt x="1433808" y="4691655"/>
                  <a:pt x="1431696" y="4695783"/>
                </a:cubicBezTo>
                <a:cubicBezTo>
                  <a:pt x="1426991" y="4705001"/>
                  <a:pt x="1420559" y="4706634"/>
                  <a:pt x="1411821" y="4703464"/>
                </a:cubicBezTo>
                <a:cubicBezTo>
                  <a:pt x="1404236" y="4700776"/>
                  <a:pt x="1394922" y="4699432"/>
                  <a:pt x="1389738" y="4694247"/>
                </a:cubicBezTo>
                <a:cubicBezTo>
                  <a:pt x="1375047" y="4679557"/>
                  <a:pt x="1356324" y="4679077"/>
                  <a:pt x="1338081" y="4675141"/>
                </a:cubicBezTo>
                <a:cubicBezTo>
                  <a:pt x="1326945" y="4672739"/>
                  <a:pt x="1316574" y="4672644"/>
                  <a:pt x="1305436" y="4674276"/>
                </a:cubicBezTo>
                <a:cubicBezTo>
                  <a:pt x="1281241" y="4677925"/>
                  <a:pt x="1257717" y="4672739"/>
                  <a:pt x="1234481" y="4666115"/>
                </a:cubicBezTo>
                <a:cubicBezTo>
                  <a:pt x="1219118" y="4661698"/>
                  <a:pt x="1203372" y="4659010"/>
                  <a:pt x="1188106" y="4654497"/>
                </a:cubicBezTo>
                <a:cubicBezTo>
                  <a:pt x="1176680" y="4651041"/>
                  <a:pt x="1165255" y="4646912"/>
                  <a:pt x="1154790" y="4641343"/>
                </a:cubicBezTo>
                <a:cubicBezTo>
                  <a:pt x="1139618" y="4633181"/>
                  <a:pt x="1126369" y="4620891"/>
                  <a:pt x="1107069" y="4624156"/>
                </a:cubicBezTo>
                <a:cubicBezTo>
                  <a:pt x="1090074" y="4627036"/>
                  <a:pt x="1074713" y="4620988"/>
                  <a:pt x="1059158" y="4615227"/>
                </a:cubicBezTo>
                <a:cubicBezTo>
                  <a:pt x="1047732" y="4611002"/>
                  <a:pt x="1036308" y="4606681"/>
                  <a:pt x="1024496" y="4603993"/>
                </a:cubicBezTo>
                <a:cubicBezTo>
                  <a:pt x="1010478" y="4600824"/>
                  <a:pt x="994635" y="4602169"/>
                  <a:pt x="982153" y="4596311"/>
                </a:cubicBezTo>
                <a:cubicBezTo>
                  <a:pt x="969095" y="4590166"/>
                  <a:pt x="958246" y="4594295"/>
                  <a:pt x="946628" y="4596024"/>
                </a:cubicBezTo>
                <a:cubicBezTo>
                  <a:pt x="928097" y="4598712"/>
                  <a:pt x="909661" y="4603705"/>
                  <a:pt x="890939" y="4597368"/>
                </a:cubicBezTo>
                <a:cubicBezTo>
                  <a:pt x="868184" y="4589687"/>
                  <a:pt x="845620" y="4581430"/>
                  <a:pt x="822769" y="4574133"/>
                </a:cubicBezTo>
                <a:cubicBezTo>
                  <a:pt x="813934" y="4571347"/>
                  <a:pt x="804431" y="4570195"/>
                  <a:pt x="795212" y="4568947"/>
                </a:cubicBezTo>
                <a:cubicBezTo>
                  <a:pt x="786476" y="4567891"/>
                  <a:pt x="776010" y="4570579"/>
                  <a:pt x="769288" y="4566547"/>
                </a:cubicBezTo>
                <a:cubicBezTo>
                  <a:pt x="752005" y="4556178"/>
                  <a:pt x="734243" y="4551089"/>
                  <a:pt x="714271" y="4551089"/>
                </a:cubicBezTo>
                <a:cubicBezTo>
                  <a:pt x="706781" y="4551089"/>
                  <a:pt x="699484" y="4546768"/>
                  <a:pt x="691900" y="4545999"/>
                </a:cubicBezTo>
                <a:cubicBezTo>
                  <a:pt x="681529" y="4545040"/>
                  <a:pt x="669623" y="4542447"/>
                  <a:pt x="660598" y="4546096"/>
                </a:cubicBezTo>
                <a:cubicBezTo>
                  <a:pt x="639379" y="4554737"/>
                  <a:pt x="622193" y="4547536"/>
                  <a:pt x="603662" y="4538991"/>
                </a:cubicBezTo>
                <a:cubicBezTo>
                  <a:pt x="585418" y="4530541"/>
                  <a:pt x="566215" y="4523821"/>
                  <a:pt x="546821" y="4518251"/>
                </a:cubicBezTo>
                <a:cubicBezTo>
                  <a:pt x="539524" y="4516235"/>
                  <a:pt x="530787" y="4519596"/>
                  <a:pt x="522721" y="4520267"/>
                </a:cubicBezTo>
                <a:cubicBezTo>
                  <a:pt x="519840" y="4520460"/>
                  <a:pt x="516671" y="4520748"/>
                  <a:pt x="514080" y="4519788"/>
                </a:cubicBezTo>
                <a:cubicBezTo>
                  <a:pt x="489020" y="4510570"/>
                  <a:pt x="463575" y="4503561"/>
                  <a:pt x="436404" y="4508361"/>
                </a:cubicBezTo>
                <a:cubicBezTo>
                  <a:pt x="433908" y="4508842"/>
                  <a:pt x="431123" y="4507786"/>
                  <a:pt x="428626" y="4507114"/>
                </a:cubicBezTo>
                <a:cubicBezTo>
                  <a:pt x="416432" y="4503657"/>
                  <a:pt x="404526" y="4498184"/>
                  <a:pt x="392141" y="4496936"/>
                </a:cubicBezTo>
                <a:cubicBezTo>
                  <a:pt x="361608" y="4493864"/>
                  <a:pt x="330884" y="4492615"/>
                  <a:pt x="300157" y="4490599"/>
                </a:cubicBezTo>
                <a:cubicBezTo>
                  <a:pt x="298237" y="4490503"/>
                  <a:pt x="296221" y="4490503"/>
                  <a:pt x="294493" y="4489831"/>
                </a:cubicBezTo>
                <a:cubicBezTo>
                  <a:pt x="283163" y="4485702"/>
                  <a:pt x="273274" y="4487047"/>
                  <a:pt x="263671" y="4494919"/>
                </a:cubicBezTo>
                <a:cubicBezTo>
                  <a:pt x="259447" y="4498376"/>
                  <a:pt x="253686" y="4500200"/>
                  <a:pt x="248406" y="4502121"/>
                </a:cubicBezTo>
                <a:cubicBezTo>
                  <a:pt x="240628" y="4505002"/>
                  <a:pt x="232659" y="4507786"/>
                  <a:pt x="224594" y="4509610"/>
                </a:cubicBezTo>
                <a:cubicBezTo>
                  <a:pt x="216624" y="4511338"/>
                  <a:pt x="208079" y="4513738"/>
                  <a:pt x="200398" y="4512395"/>
                </a:cubicBezTo>
                <a:cubicBezTo>
                  <a:pt x="186572" y="4509994"/>
                  <a:pt x="173417" y="4504618"/>
                  <a:pt x="159783" y="4501064"/>
                </a:cubicBezTo>
                <a:cubicBezTo>
                  <a:pt x="155079" y="4499816"/>
                  <a:pt x="149893" y="4500009"/>
                  <a:pt x="144997" y="4499912"/>
                </a:cubicBezTo>
                <a:cubicBezTo>
                  <a:pt x="133763" y="4499625"/>
                  <a:pt x="122241" y="4502409"/>
                  <a:pt x="112064" y="4494440"/>
                </a:cubicBezTo>
                <a:cubicBezTo>
                  <a:pt x="102655" y="4486951"/>
                  <a:pt x="93148" y="4489158"/>
                  <a:pt x="83259" y="4494824"/>
                </a:cubicBezTo>
                <a:cubicBezTo>
                  <a:pt x="76154" y="4498857"/>
                  <a:pt x="68090" y="4502025"/>
                  <a:pt x="60120" y="4503561"/>
                </a:cubicBezTo>
                <a:cubicBezTo>
                  <a:pt x="49174" y="4505673"/>
                  <a:pt x="38324" y="4506538"/>
                  <a:pt x="26514" y="4505289"/>
                </a:cubicBezTo>
                <a:cubicBezTo>
                  <a:pt x="18161" y="4504425"/>
                  <a:pt x="11343" y="4504041"/>
                  <a:pt x="4814" y="4498952"/>
                </a:cubicBezTo>
                <a:cubicBezTo>
                  <a:pt x="3759" y="4498184"/>
                  <a:pt x="1839" y="4497992"/>
                  <a:pt x="398" y="4498089"/>
                </a:cubicBezTo>
                <a:lnTo>
                  <a:pt x="0" y="4498087"/>
                </a:lnTo>
                <a:close/>
              </a:path>
            </a:pathLst>
          </a:custGeom>
          <a:noFill/>
          <a:effectLst>
            <a:outerShdw blurRad="381000" dist="152400" dir="5400000" algn="t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686A5CBB-E03B-4019-8BCD-78975D39E4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4138312"/>
            <a:ext cx="5260975" cy="1410656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94993204-9792-4E61-A83C-73D4379E2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4138312"/>
            <a:ext cx="5260975" cy="1410656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816E867-697E-C080-2A73-4657304FCBB4}"/>
              </a:ext>
            </a:extLst>
          </p:cNvPr>
          <p:cNvSpPr txBox="1">
            <a:spLocks/>
          </p:cNvSpPr>
          <p:nvPr/>
        </p:nvSpPr>
        <p:spPr>
          <a:xfrm>
            <a:off x="827088" y="4138312"/>
            <a:ext cx="4017286" cy="18703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Literaturrecherche</a:t>
            </a:r>
          </a:p>
        </p:txBody>
      </p:sp>
      <p:sp>
        <p:nvSpPr>
          <p:cNvPr id="4" name="AutoShape 4" descr="University Of Applied Sciences Dusseldorf - InCabin">
            <a:extLst>
              <a:ext uri="{FF2B5EF4-FFF2-40B4-BE49-F238E27FC236}">
                <a16:creationId xmlns:a16="http://schemas.microsoft.com/office/drawing/2014/main" id="{3EF11297-345A-33BC-EAD3-FD105911BE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3080" name="Picture 8" descr="Hochschule Düsseldorf – Wikipedia">
            <a:extLst>
              <a:ext uri="{FF2B5EF4-FFF2-40B4-BE49-F238E27FC236}">
                <a16:creationId xmlns:a16="http://schemas.microsoft.com/office/drawing/2014/main" id="{D55C72AB-823A-C397-7E6A-D41181C0D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6105" y="77822"/>
            <a:ext cx="1281740" cy="685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4968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ACCF54-C133-F750-C294-CF3F1303A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de-DE" sz="400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4471B-DD2B-893B-BEA0-A1DFEE279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>
            <a:normAutofit/>
          </a:bodyPr>
          <a:lstStyle/>
          <a:p>
            <a:r>
              <a:rPr lang="de-DE" sz="2400" dirty="0">
                <a:solidFill>
                  <a:schemeClr val="tx1">
                    <a:alpha val="80000"/>
                  </a:schemeClr>
                </a:solidFill>
              </a:rPr>
              <a:t>Literatur</a:t>
            </a:r>
          </a:p>
          <a:p>
            <a:r>
              <a:rPr lang="de-DE" sz="2400" dirty="0">
                <a:solidFill>
                  <a:schemeClr val="tx1">
                    <a:alpha val="80000"/>
                  </a:schemeClr>
                </a:solidFill>
              </a:rPr>
              <a:t>Ziel</a:t>
            </a:r>
          </a:p>
          <a:p>
            <a:r>
              <a:rPr lang="de-DE" sz="2400" dirty="0">
                <a:solidFill>
                  <a:schemeClr val="tx1">
                    <a:alpha val="80000"/>
                  </a:schemeClr>
                </a:solidFill>
              </a:rPr>
              <a:t>Motivation</a:t>
            </a:r>
          </a:p>
          <a:p>
            <a:r>
              <a:rPr lang="de-DE" sz="2400" dirty="0">
                <a:solidFill>
                  <a:schemeClr val="tx1">
                    <a:alpha val="80000"/>
                  </a:schemeClr>
                </a:solidFill>
              </a:rPr>
              <a:t>Vor/Nachteile</a:t>
            </a:r>
          </a:p>
          <a:p>
            <a:r>
              <a:rPr lang="de-DE" sz="2400" dirty="0">
                <a:solidFill>
                  <a:schemeClr val="tx1">
                    <a:alpha val="80000"/>
                  </a:schemeClr>
                </a:solidFill>
              </a:rPr>
              <a:t>Datasets und Tools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" name="Picture 8" descr="Hochschule Düsseldorf – Wikipedia">
            <a:extLst>
              <a:ext uri="{FF2B5EF4-FFF2-40B4-BE49-F238E27FC236}">
                <a16:creationId xmlns:a16="http://schemas.microsoft.com/office/drawing/2014/main" id="{3D042B00-EAAF-886C-B5B7-E1D185D8C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3056" y="42638"/>
            <a:ext cx="1281740" cy="685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4401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Rectangle 2076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79" name="Oval 2078">
            <a:extLst>
              <a:ext uri="{FF2B5EF4-FFF2-40B4-BE49-F238E27FC236}">
                <a16:creationId xmlns:a16="http://schemas.microsoft.com/office/drawing/2014/main" id="{037C701E-5151-4086-9CF2-7F44AA38A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5537" y="61869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81" name="Oval 2080">
            <a:extLst>
              <a:ext uri="{FF2B5EF4-FFF2-40B4-BE49-F238E27FC236}">
                <a16:creationId xmlns:a16="http://schemas.microsoft.com/office/drawing/2014/main" id="{E656C08E-A84B-4C76-9D3B-46237B5A9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5537" y="61869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050" name="Picture 2" descr="A screenshot of a google form&#10;&#10;Description automatically generated">
            <a:extLst>
              <a:ext uri="{FF2B5EF4-FFF2-40B4-BE49-F238E27FC236}">
                <a16:creationId xmlns:a16="http://schemas.microsoft.com/office/drawing/2014/main" id="{47E086D6-DA7C-D083-341A-190F43098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4248" y="632801"/>
            <a:ext cx="4763801" cy="2310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AC6A4D68-4592-2DFC-020F-9FD33B493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4247" y="4055649"/>
            <a:ext cx="4763801" cy="1572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83" name="Graphic 4">
            <a:extLst>
              <a:ext uri="{FF2B5EF4-FFF2-40B4-BE49-F238E27FC236}">
                <a16:creationId xmlns:a16="http://schemas.microsoft.com/office/drawing/2014/main" id="{72FB3F6E-946C-4B30-8EAA-64FA3056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888" y="5091324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084" name="Freeform: Shape 2083">
              <a:extLst>
                <a:ext uri="{FF2B5EF4-FFF2-40B4-BE49-F238E27FC236}">
                  <a16:creationId xmlns:a16="http://schemas.microsoft.com/office/drawing/2014/main" id="{A820447A-FA0D-448D-8513-13647DCEE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5" name="Freeform: Shape 2084">
              <a:extLst>
                <a:ext uri="{FF2B5EF4-FFF2-40B4-BE49-F238E27FC236}">
                  <a16:creationId xmlns:a16="http://schemas.microsoft.com/office/drawing/2014/main" id="{980F5A0F-E8FC-415B-BA7F-74C42D42C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6" name="Freeform: Shape 2085">
              <a:extLst>
                <a:ext uri="{FF2B5EF4-FFF2-40B4-BE49-F238E27FC236}">
                  <a16:creationId xmlns:a16="http://schemas.microsoft.com/office/drawing/2014/main" id="{D77443A5-2061-492B-AFF5-658AB7E7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7" name="Freeform: Shape 2086">
              <a:extLst>
                <a:ext uri="{FF2B5EF4-FFF2-40B4-BE49-F238E27FC236}">
                  <a16:creationId xmlns:a16="http://schemas.microsoft.com/office/drawing/2014/main" id="{3276C0A3-C877-457C-917D-473FABC9E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8" name="Freeform: Shape 2087">
              <a:extLst>
                <a:ext uri="{FF2B5EF4-FFF2-40B4-BE49-F238E27FC236}">
                  <a16:creationId xmlns:a16="http://schemas.microsoft.com/office/drawing/2014/main" id="{D9808886-A26A-41C2-9401-727236349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9" name="Freeform: Shape 2088">
              <a:extLst>
                <a:ext uri="{FF2B5EF4-FFF2-40B4-BE49-F238E27FC236}">
                  <a16:creationId xmlns:a16="http://schemas.microsoft.com/office/drawing/2014/main" id="{9FB169C8-A66F-4AEC-BBEE-4DEBBE844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0" name="Freeform: Shape 2089">
              <a:extLst>
                <a:ext uri="{FF2B5EF4-FFF2-40B4-BE49-F238E27FC236}">
                  <a16:creationId xmlns:a16="http://schemas.microsoft.com/office/drawing/2014/main" id="{EEC418CD-F215-459D-8919-D5B5194EB4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1" name="Freeform: Shape 2090">
              <a:extLst>
                <a:ext uri="{FF2B5EF4-FFF2-40B4-BE49-F238E27FC236}">
                  <a16:creationId xmlns:a16="http://schemas.microsoft.com/office/drawing/2014/main" id="{5E034A84-840E-429B-9A4F-ECC31AB62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2" name="Freeform: Shape 2091">
              <a:extLst>
                <a:ext uri="{FF2B5EF4-FFF2-40B4-BE49-F238E27FC236}">
                  <a16:creationId xmlns:a16="http://schemas.microsoft.com/office/drawing/2014/main" id="{6D050DBA-8800-4A73-84C0-34DC71A6B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3" name="Freeform: Shape 2092">
              <a:extLst>
                <a:ext uri="{FF2B5EF4-FFF2-40B4-BE49-F238E27FC236}">
                  <a16:creationId xmlns:a16="http://schemas.microsoft.com/office/drawing/2014/main" id="{2D4BF35D-BFFA-45A5-8081-FEDD30757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4" name="Freeform: Shape 2093">
              <a:extLst>
                <a:ext uri="{FF2B5EF4-FFF2-40B4-BE49-F238E27FC236}">
                  <a16:creationId xmlns:a16="http://schemas.microsoft.com/office/drawing/2014/main" id="{36B354BD-25DC-42A0-9CE7-8246868103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5" name="Freeform: Shape 2094">
              <a:extLst>
                <a:ext uri="{FF2B5EF4-FFF2-40B4-BE49-F238E27FC236}">
                  <a16:creationId xmlns:a16="http://schemas.microsoft.com/office/drawing/2014/main" id="{852C4A08-6644-42B7-8237-2AD5F0041D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6" name="Freeform: Shape 2095">
              <a:extLst>
                <a:ext uri="{FF2B5EF4-FFF2-40B4-BE49-F238E27FC236}">
                  <a16:creationId xmlns:a16="http://schemas.microsoft.com/office/drawing/2014/main" id="{91D58C06-A184-4272-9824-2F08535184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115CA-82C7-5583-7779-DFC416F54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521" y="1715151"/>
            <a:ext cx="471623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000" dirty="0">
                <a:solidFill>
                  <a:schemeClr val="bg1"/>
                </a:solidFill>
              </a:rPr>
              <a:t>Sentiment Analysis dient der Analyse von Rohtext, um mithilfe von NLP, ML und anderen Datenanalysetechniken objektive quantitative Ergebnisse zu erzielen.</a:t>
            </a:r>
          </a:p>
          <a:p>
            <a:pPr marL="0" indent="0">
              <a:buNone/>
            </a:pPr>
            <a:endParaRPr lang="de-DE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e-DE" sz="2000" dirty="0">
                <a:solidFill>
                  <a:schemeClr val="bg1"/>
                </a:solidFill>
              </a:rPr>
              <a:t>Die gängigsten Arten der Stimmungsanalyse sind:</a:t>
            </a:r>
          </a:p>
          <a:p>
            <a:pPr marL="0" indent="0">
              <a:buNone/>
            </a:pPr>
            <a:r>
              <a:rPr lang="de-DE" sz="2000" dirty="0">
                <a:solidFill>
                  <a:schemeClr val="bg1"/>
                </a:solidFill>
              </a:rPr>
              <a:t>1. Feinkörnige Stimmungsanalyse</a:t>
            </a:r>
          </a:p>
          <a:p>
            <a:pPr marL="0" indent="0">
              <a:buNone/>
            </a:pPr>
            <a:r>
              <a:rPr lang="de-DE" sz="2000" dirty="0">
                <a:solidFill>
                  <a:schemeClr val="bg1"/>
                </a:solidFill>
              </a:rPr>
              <a:t>2. Erkennung von Emotionen</a:t>
            </a:r>
          </a:p>
          <a:p>
            <a:pPr marL="0" indent="0">
              <a:buNone/>
            </a:pPr>
            <a:r>
              <a:rPr lang="de-DE" sz="2000" dirty="0">
                <a:solidFill>
                  <a:schemeClr val="bg1"/>
                </a:solidFill>
              </a:rPr>
              <a:t>3. Aspektbasierte Stimmungsanalyse</a:t>
            </a:r>
          </a:p>
          <a:p>
            <a:pPr marL="0" indent="0">
              <a:buNone/>
            </a:pPr>
            <a:r>
              <a:rPr lang="de-DE" sz="2000" dirty="0">
                <a:solidFill>
                  <a:schemeClr val="bg1"/>
                </a:solidFill>
              </a:rPr>
              <a:t>4. Mehrsprachige Stimmungsanalyse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33E6B2-0311-19D2-8863-1F9AB088D133}"/>
              </a:ext>
            </a:extLst>
          </p:cNvPr>
          <p:cNvSpPr txBox="1"/>
          <p:nvPr/>
        </p:nvSpPr>
        <p:spPr>
          <a:xfrm>
            <a:off x="849707" y="6404638"/>
            <a:ext cx="60943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https://www.projectpro.io/article/sentiment-analysis-project-ideas-with-source-code/518</a:t>
            </a:r>
          </a:p>
        </p:txBody>
      </p:sp>
      <p:pic>
        <p:nvPicPr>
          <p:cNvPr id="2" name="Picture 8" descr="Hochschule Düsseldorf – Wikipedia">
            <a:extLst>
              <a:ext uri="{FF2B5EF4-FFF2-40B4-BE49-F238E27FC236}">
                <a16:creationId xmlns:a16="http://schemas.microsoft.com/office/drawing/2014/main" id="{D3B6A5A0-083B-C064-8F65-02591C805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6105" y="77822"/>
            <a:ext cx="1281740" cy="685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019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8" name="Rectangle 308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3CBF57-D849-366E-39AC-564556E7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Ziel</a:t>
            </a: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BCE14A-4109-3CB9-7BE9-356AD5D4351E}"/>
              </a:ext>
            </a:extLst>
          </p:cNvPr>
          <p:cNvSpPr txBox="1"/>
          <p:nvPr/>
        </p:nvSpPr>
        <p:spPr>
          <a:xfrm>
            <a:off x="838200" y="3146400"/>
            <a:ext cx="4391024" cy="245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bg1">
                    <a:alpha val="80000"/>
                  </a:schemeClr>
                </a:solidFill>
              </a:rPr>
              <a:t>Analyse der Produktbewertung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bg1">
                    <a:alpha val="80000"/>
                  </a:schemeClr>
                </a:solidFill>
              </a:rPr>
              <a:t>Vorhersage der Bewertung (gut, schlecht, neutral)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bg1">
                    <a:alpha val="80000"/>
                  </a:schemeClr>
                </a:solidFill>
              </a:rPr>
              <a:t>Die öffentliche Meinung verstehen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bg1">
                    <a:alpha val="80000"/>
                  </a:schemeClr>
                </a:solidFill>
              </a:rPr>
              <a:t>Herausfinden der Hauptprobleme mit den Produkten.</a:t>
            </a:r>
          </a:p>
        </p:txBody>
      </p:sp>
      <p:grpSp>
        <p:nvGrpSpPr>
          <p:cNvPr id="3081" name="Group 3080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3082" name="Group 3081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083" name="Group 3082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AB60D88A-23CE-AD1D-AFAA-F652048AC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41932" y="1773845"/>
            <a:ext cx="4369112" cy="2217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A0B854-DDA9-9007-C734-599897901C64}"/>
              </a:ext>
            </a:extLst>
          </p:cNvPr>
          <p:cNvSpPr txBox="1"/>
          <p:nvPr/>
        </p:nvSpPr>
        <p:spPr>
          <a:xfrm>
            <a:off x="838199" y="6165503"/>
            <a:ext cx="77124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https://medium.com/@skillcate/sentiment-analysis-project-with-traditional-ml-nlp-349185bf98dd</a:t>
            </a:r>
          </a:p>
        </p:txBody>
      </p:sp>
      <p:pic>
        <p:nvPicPr>
          <p:cNvPr id="3" name="Picture 8" descr="Hochschule Düsseldorf – Wikipedia">
            <a:extLst>
              <a:ext uri="{FF2B5EF4-FFF2-40B4-BE49-F238E27FC236}">
                <a16:creationId xmlns:a16="http://schemas.microsoft.com/office/drawing/2014/main" id="{D00499D8-760D-33F5-2DE9-423FE75C6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6105" y="77822"/>
            <a:ext cx="1281740" cy="685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267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8" name="Rectangle 410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78182E-9165-F91D-6120-A8C319C1C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5" cy="1323439"/>
          </a:xfrm>
        </p:spPr>
        <p:txBody>
          <a:bodyPr anchor="t">
            <a:normAutofit/>
          </a:bodyPr>
          <a:lstStyle/>
          <a:p>
            <a:r>
              <a:rPr lang="de-DE" sz="4000" dirty="0">
                <a:solidFill>
                  <a:schemeClr val="bg1"/>
                </a:solidFill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C8CA6-E51F-7B17-A789-750B266DC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4391025" cy="2454300"/>
          </a:xfrm>
        </p:spPr>
        <p:txBody>
          <a:bodyPr>
            <a:normAutofit/>
          </a:bodyPr>
          <a:lstStyle/>
          <a:p>
            <a:r>
              <a:rPr lang="de-DE" sz="2400" dirty="0">
                <a:solidFill>
                  <a:schemeClr val="bg1">
                    <a:alpha val="80000"/>
                  </a:schemeClr>
                </a:solidFill>
              </a:rPr>
              <a:t>Explosion of Text Data</a:t>
            </a:r>
          </a:p>
          <a:p>
            <a:r>
              <a:rPr lang="de-DE" sz="2400" dirty="0">
                <a:solidFill>
                  <a:schemeClr val="bg1">
                    <a:alpha val="80000"/>
                  </a:schemeClr>
                </a:solidFill>
              </a:rPr>
              <a:t>Demand for Automation</a:t>
            </a:r>
          </a:p>
          <a:p>
            <a:r>
              <a:rPr lang="de-DE" sz="2400" dirty="0">
                <a:solidFill>
                  <a:schemeClr val="bg1">
                    <a:alpha val="80000"/>
                  </a:schemeClr>
                </a:solidFill>
              </a:rPr>
              <a:t>Customer Feedback Analysis</a:t>
            </a: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Brand Monitoring and Reputation Management</a:t>
            </a:r>
            <a:endParaRPr lang="de-DE" sz="2400" dirty="0">
              <a:solidFill>
                <a:schemeClr val="bg1">
                  <a:alpha val="8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323AF0-50B6-B61A-76FF-F2C064D53F62}"/>
              </a:ext>
            </a:extLst>
          </p:cNvPr>
          <p:cNvSpPr txBox="1"/>
          <p:nvPr/>
        </p:nvSpPr>
        <p:spPr>
          <a:xfrm>
            <a:off x="838199" y="6165503"/>
            <a:ext cx="77124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https://medium.com/@skillcate/sentiment-analysis-project-with-traditional-ml-nlp-349185bf98dd</a:t>
            </a:r>
          </a:p>
        </p:txBody>
      </p:sp>
      <p:pic>
        <p:nvPicPr>
          <p:cNvPr id="1026" name="Picture 2" descr="Number of Rating throughout the Years">
            <a:extLst>
              <a:ext uri="{FF2B5EF4-FFF2-40B4-BE49-F238E27FC236}">
                <a16:creationId xmlns:a16="http://schemas.microsoft.com/office/drawing/2014/main" id="{D4772E2B-494A-803E-ED35-6C05BD641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549" y="969971"/>
            <a:ext cx="74676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 descr="Hochschule Düsseldorf – Wikipedia">
            <a:extLst>
              <a:ext uri="{FF2B5EF4-FFF2-40B4-BE49-F238E27FC236}">
                <a16:creationId xmlns:a16="http://schemas.microsoft.com/office/drawing/2014/main" id="{7FAF5E32-0C35-3586-703C-D5682CDDA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6105" y="77822"/>
            <a:ext cx="1281740" cy="685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186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2D239-165F-0352-6EBC-85930AA34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de-DE" sz="2000" b="1" dirty="0">
                <a:solidFill>
                  <a:schemeClr val="bg1"/>
                </a:solidFill>
              </a:rPr>
              <a:t>Vorteile:</a:t>
            </a:r>
          </a:p>
          <a:p>
            <a:pPr marL="0" indent="0">
              <a:buNone/>
            </a:pPr>
            <a:r>
              <a:rPr lang="de-DE" sz="2000" dirty="0">
                <a:solidFill>
                  <a:schemeClr val="bg1"/>
                </a:solidFill>
              </a:rPr>
              <a:t>Sortieren von Daten im Maßstab</a:t>
            </a:r>
          </a:p>
          <a:p>
            <a:pPr marL="0" indent="0">
              <a:buNone/>
            </a:pPr>
            <a:r>
              <a:rPr lang="de-DE" sz="2000" dirty="0">
                <a:solidFill>
                  <a:schemeClr val="bg1"/>
                </a:solidFill>
              </a:rPr>
              <a:t>Analyse in Echtzeit</a:t>
            </a:r>
          </a:p>
          <a:p>
            <a:pPr marL="0" indent="0">
              <a:buNone/>
            </a:pPr>
            <a:r>
              <a:rPr lang="de-DE" sz="2000" dirty="0">
                <a:solidFill>
                  <a:schemeClr val="bg1"/>
                </a:solidFill>
              </a:rPr>
              <a:t>Konsistente Kriterien</a:t>
            </a:r>
          </a:p>
          <a:p>
            <a:pPr marL="0" indent="0">
              <a:buNone/>
            </a:pPr>
            <a:endParaRPr lang="de-DE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de-DE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de-DE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de-DE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e-DE" sz="2000" b="1" dirty="0">
                <a:solidFill>
                  <a:schemeClr val="bg1"/>
                </a:solidFill>
              </a:rPr>
              <a:t>Nachteile:</a:t>
            </a:r>
          </a:p>
          <a:p>
            <a:pPr marL="0" indent="0">
              <a:buNone/>
            </a:pPr>
            <a:r>
              <a:rPr lang="de-DE" sz="2000" dirty="0">
                <a:solidFill>
                  <a:schemeClr val="bg1"/>
                </a:solidFill>
              </a:rPr>
              <a:t>Sarkasmus-Erkennung</a:t>
            </a:r>
          </a:p>
          <a:p>
            <a:pPr marL="0" indent="0">
              <a:buNone/>
            </a:pPr>
            <a:r>
              <a:rPr lang="de-DE" sz="2000" dirty="0">
                <a:solidFill>
                  <a:schemeClr val="bg1"/>
                </a:solidFill>
              </a:rPr>
              <a:t>Kontextuelles Verstehen</a:t>
            </a:r>
          </a:p>
          <a:p>
            <a:pPr marL="0" indent="0">
              <a:buNone/>
            </a:pPr>
            <a:r>
              <a:rPr lang="de-DE" sz="2000" dirty="0">
                <a:solidFill>
                  <a:schemeClr val="bg1"/>
                </a:solidFill>
              </a:rPr>
              <a:t>Bereichsspezifische Modelle</a:t>
            </a:r>
          </a:p>
          <a:p>
            <a:pPr marL="0" indent="0">
              <a:buNone/>
            </a:pPr>
            <a:endParaRPr lang="de-DE" sz="20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3FF664-1DDD-826A-BAA3-1921213A43D6}"/>
              </a:ext>
            </a:extLst>
          </p:cNvPr>
          <p:cNvSpPr txBox="1"/>
          <p:nvPr/>
        </p:nvSpPr>
        <p:spPr>
          <a:xfrm>
            <a:off x="849707" y="6404638"/>
            <a:ext cx="60943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https://www.projectpro.io/article/sentiment-analysis-project-ideas-with-source-code/518</a:t>
            </a:r>
          </a:p>
        </p:txBody>
      </p:sp>
      <p:pic>
        <p:nvPicPr>
          <p:cNvPr id="2" name="Picture 8" descr="Hochschule Düsseldorf – Wikipedia">
            <a:extLst>
              <a:ext uri="{FF2B5EF4-FFF2-40B4-BE49-F238E27FC236}">
                <a16:creationId xmlns:a16="http://schemas.microsoft.com/office/drawing/2014/main" id="{2C0DD746-44AC-DFF5-EEA1-2BD479451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467" y="228479"/>
            <a:ext cx="1281740" cy="685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4503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0" name="Rectangle 513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D0B17A-8ED6-8BD7-37CE-E70921B4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825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de-DE" sz="4000">
                <a:solidFill>
                  <a:schemeClr val="bg1"/>
                </a:solidFill>
              </a:rPr>
              <a:t>Datasets und Tools</a:t>
            </a:r>
          </a:p>
        </p:txBody>
      </p:sp>
      <p:grpSp>
        <p:nvGrpSpPr>
          <p:cNvPr id="5142" name="Group 5141">
            <a:extLst>
              <a:ext uri="{FF2B5EF4-FFF2-40B4-BE49-F238E27FC236}">
                <a16:creationId xmlns:a16="http://schemas.microsoft.com/office/drawing/2014/main" id="{CC09AFE8-9934-40C0-A058-4008A3B19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160" y="1498600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5143" name="Group 5142">
              <a:extLst>
                <a:ext uri="{FF2B5EF4-FFF2-40B4-BE49-F238E27FC236}">
                  <a16:creationId xmlns:a16="http://schemas.microsoft.com/office/drawing/2014/main" id="{23588ED6-49C5-4EAF-BBCE-DB6B4184D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5147" name="Freeform: Shape 5146">
                <a:extLst>
                  <a:ext uri="{FF2B5EF4-FFF2-40B4-BE49-F238E27FC236}">
                    <a16:creationId xmlns:a16="http://schemas.microsoft.com/office/drawing/2014/main" id="{0149B80A-4A62-4495-AE87-F32755EBDD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48" name="Freeform: Shape 5147">
                <a:extLst>
                  <a:ext uri="{FF2B5EF4-FFF2-40B4-BE49-F238E27FC236}">
                    <a16:creationId xmlns:a16="http://schemas.microsoft.com/office/drawing/2014/main" id="{438C3DC5-5887-49A9-AABB-A9772488F2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144" name="Group 5143">
              <a:extLst>
                <a:ext uri="{FF2B5EF4-FFF2-40B4-BE49-F238E27FC236}">
                  <a16:creationId xmlns:a16="http://schemas.microsoft.com/office/drawing/2014/main" id="{5BD695E1-00AC-49AE-93BF-22000734A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5145" name="Freeform: Shape 5144">
                <a:extLst>
                  <a:ext uri="{FF2B5EF4-FFF2-40B4-BE49-F238E27FC236}">
                    <a16:creationId xmlns:a16="http://schemas.microsoft.com/office/drawing/2014/main" id="{F721D808-B8BC-4568-A927-12BC276FBF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46" name="Freeform: Shape 5145">
                <a:extLst>
                  <a:ext uri="{FF2B5EF4-FFF2-40B4-BE49-F238E27FC236}">
                    <a16:creationId xmlns:a16="http://schemas.microsoft.com/office/drawing/2014/main" id="{7B2886F6-DE07-47C7-840F-22CD86C0D1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050" name="Picture 2" descr="BERT Transformers: How Do They Work? - DZone">
            <a:extLst>
              <a:ext uri="{FF2B5EF4-FFF2-40B4-BE49-F238E27FC236}">
                <a16:creationId xmlns:a16="http://schemas.microsoft.com/office/drawing/2014/main" id="{4FA692C2-E262-E9F8-1A5C-114E8BED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73091" y="2485682"/>
            <a:ext cx="4369112" cy="2108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5604D-5BE6-3345-E33B-99F4CE63A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1826" y="3146400"/>
            <a:ext cx="4391024" cy="2454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>
                <a:solidFill>
                  <a:schemeClr val="bg1">
                    <a:alpha val="80000"/>
                  </a:schemeClr>
                </a:solidFill>
              </a:rPr>
              <a:t>Dataset: Amazon Product Reviews</a:t>
            </a:r>
          </a:p>
          <a:p>
            <a:pPr marL="0" indent="0">
              <a:buNone/>
            </a:pPr>
            <a:endParaRPr lang="de-DE" sz="2400">
              <a:solidFill>
                <a:schemeClr val="bg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de-DE" sz="2400">
                <a:solidFill>
                  <a:schemeClr val="bg1">
                    <a:alpha val="80000"/>
                  </a:schemeClr>
                </a:solidFill>
              </a:rPr>
              <a:t>Tools: BERT, NLP, PyTorch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6D2609-86E2-DA4C-59A2-77D00624F5A3}"/>
              </a:ext>
            </a:extLst>
          </p:cNvPr>
          <p:cNvSpPr txBox="1"/>
          <p:nvPr/>
        </p:nvSpPr>
        <p:spPr>
          <a:xfrm>
            <a:off x="827160" y="6387402"/>
            <a:ext cx="8774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sz="1200" dirty="0">
                <a:solidFill>
                  <a:schemeClr val="bg1"/>
                </a:solidFill>
              </a:rPr>
              <a:t>https://medium.com/@adiaturb/text-sentiment-analysis-end-to-end-machine-learning-project-with-python-9644f4362ca2</a:t>
            </a:r>
            <a:endParaRPr lang="de-DE" sz="1200">
              <a:solidFill>
                <a:schemeClr val="bg1"/>
              </a:solidFill>
            </a:endParaRPr>
          </a:p>
        </p:txBody>
      </p:sp>
      <p:pic>
        <p:nvPicPr>
          <p:cNvPr id="4" name="Picture 8" descr="Hochschule Düsseldorf – Wikipedia">
            <a:extLst>
              <a:ext uri="{FF2B5EF4-FFF2-40B4-BE49-F238E27FC236}">
                <a16:creationId xmlns:a16="http://schemas.microsoft.com/office/drawing/2014/main" id="{2F09229D-1B65-3151-4260-A6E9DFC0F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6105" y="77822"/>
            <a:ext cx="1281740" cy="685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0119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</Words>
  <Application>Microsoft Office PowerPoint</Application>
  <PresentationFormat>Widescreen</PresentationFormat>
  <Paragraphs>57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Sentiment Analysis mit LLMs für Amazon Produkte</vt:lpstr>
      <vt:lpstr>Seniment Analysis</vt:lpstr>
      <vt:lpstr>Agenda</vt:lpstr>
      <vt:lpstr>PowerPoint Presentation</vt:lpstr>
      <vt:lpstr>Ziel</vt:lpstr>
      <vt:lpstr>Motivation</vt:lpstr>
      <vt:lpstr>PowerPoint Presentation</vt:lpstr>
      <vt:lpstr>Datasets und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Redi Bajraktari</dc:creator>
  <cp:lastModifiedBy>Redi Bajraktari</cp:lastModifiedBy>
  <cp:revision>5</cp:revision>
  <dcterms:created xsi:type="dcterms:W3CDTF">2024-10-07T16:39:34Z</dcterms:created>
  <dcterms:modified xsi:type="dcterms:W3CDTF">2024-10-21T07:57:53Z</dcterms:modified>
</cp:coreProperties>
</file>